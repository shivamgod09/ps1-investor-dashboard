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37760" y="1097280"/>
            <a:ext cx="2286000" cy="2286000"/>
          </a:xfrm>
          <a:prstGeom prst="ellipse">
            <a:avLst/>
          </a:prstGeom>
          <a:solidFill>
            <a:srgbClr val="7C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463040"/>
            <a:ext cx="1371600" cy="1371600"/>
          </a:xfrm>
          <a:prstGeom prst="roundRect">
            <a:avLst/>
          </a:prstGeom>
          <a:solidFill>
            <a:srgbClr val="7C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16459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0F2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1089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2A9"/>
                </a:solidFill>
                <a:latin typeface="Calibri"/>
              </a:defRPr>
            </a:pPr>
            <a:r>
              <a:t>Investor &amp; Growth Office: Fundraising Ops,</a:t>
            </a:r>
            <a:br/>
            <a:r>
              <a:t>Growth Metrics &amp; Investor Reporting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029200"/>
            <a:ext cx="1371600" cy="320040"/>
          </a:xfrm>
          <a:prstGeom prst="roundRect">
            <a:avLst/>
          </a:prstGeom>
          <a:solidFill>
            <a:srgbClr val="1C202B"/>
          </a:solidFill>
          <a:ln w="9525">
            <a:solidFill>
              <a:srgbClr val="4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4A5068"/>
                </a:solidFill>
                <a:latin typeface="Calibri"/>
              </a:rPr>
              <a:t>📋  Project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5029200"/>
            <a:ext cx="1645920" cy="320040"/>
          </a:xfrm>
          <a:prstGeom prst="roundRect">
            <a:avLst/>
          </a:prstGeom>
          <a:solidFill>
            <a:srgbClr val="1C202B"/>
          </a:solidFill>
          <a:ln w="9525">
            <a:solidFill>
              <a:srgbClr val="4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4A5068"/>
                </a:solidFill>
                <a:latin typeface="Calibri"/>
              </a:rPr>
              <a:t>👤  Growth Office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5029200"/>
            <a:ext cx="1371600" cy="320040"/>
          </a:xfrm>
          <a:prstGeom prst="roundRect">
            <a:avLst/>
          </a:prstGeom>
          <a:solidFill>
            <a:srgbClr val="1C202B"/>
          </a:solidFill>
          <a:ln w="9525">
            <a:solidFill>
              <a:srgbClr val="4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4A5068"/>
                </a:solidFill>
                <a:latin typeface="Calibri"/>
              </a:rPr>
              <a:t>📅 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Investor relations at growth-stage companies is fragmented, manual, and error-prone.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30175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Scattered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Revenue metrics live across CRM, finance tools, and spreadsheets. There's no single source of truth for board reporting. Teams waste hours reconciling data from Stripe, Salesforce, and QuickBooks.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30175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Manual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Finance teams spend 20+ hours per month manually preparing investor updates, board decks, and quarterly letters. This is time taken away from actually growing the business.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383280" cy="30175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No Scenario Modelling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004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Fundraising readiness is guesswork. No repeatable DCF models, valuation frameworks, or scenario analysis tools. Companies scramble every time they need to raise.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A unified, investor-grade platform that automates growth metrics, board reporting, and fundraising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30175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Real-Time Growth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ARR, NDR, LTV/CAC, pipeline velocity, cohort analysis — all live, all in one view. No more spreadsheets. Executive-grade visualizations updated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30175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AI-Powered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Auto-generate investor updates, board memos, and pitch decks from live data. AI chatbot answers any investor query instantly with data-backed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286000"/>
            <a:ext cx="3383280" cy="301752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Fundraise Readiness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004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Valuation models (DCF + comparables), data room tracker, raise CRM, and scenario planning — everything to go from thinking about raising to closing the 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6EFA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A9"/>
                </a:solidFill>
                <a:latin typeface="Calibri"/>
              </a:defRPr>
            </a:pPr>
            <a:r>
              <a:t>End-to-end data flow from source systems to investor-grade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2377440"/>
            <a:ext cx="1737360" cy="2377440"/>
          </a:xfrm>
          <a:prstGeom prst="roundRect">
            <a:avLst/>
          </a:prstGeom>
          <a:solidFill>
            <a:srgbClr val="251E42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2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2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CRM · Finance ·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8559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0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2607" y="2377440"/>
            <a:ext cx="1737360" cy="2377440"/>
          </a:xfrm>
          <a:prstGeom prst="roundRect">
            <a:avLst/>
          </a:prstGeom>
          <a:solidFill>
            <a:srgbClr val="162A42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2607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2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07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2FF"/>
                </a:solidFill>
                <a:latin typeface="Calibri"/>
              </a:defRPr>
            </a:pPr>
            <a:r>
              <a:t>ETL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Clean · Transform · Unify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3119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0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7167" y="2377440"/>
            <a:ext cx="1737360" cy="2377440"/>
          </a:xfrm>
          <a:prstGeom prst="roundRect">
            <a:avLst/>
          </a:prstGeom>
          <a:solidFill>
            <a:srgbClr val="0E332A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167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2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167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2FF"/>
                </a:solidFill>
                <a:latin typeface="Calibri"/>
              </a:defRPr>
            </a:pPr>
            <a:r>
              <a:t>Metrics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ARR · NDR · LTV · Cohorts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7679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0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1726" y="2377440"/>
            <a:ext cx="1737360" cy="2377440"/>
          </a:xfrm>
          <a:prstGeom prst="roundRect">
            <a:avLst/>
          </a:prstGeom>
          <a:solidFill>
            <a:srgbClr val="3A2810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1726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2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1726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2F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1726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Reports · Chatbot ·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2238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06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6287" y="2377440"/>
            <a:ext cx="1737360" cy="2377440"/>
          </a:xfrm>
          <a:prstGeom prst="roundRect">
            <a:avLst/>
          </a:prstGeom>
          <a:solidFill>
            <a:srgbClr val="3A1828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6287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0F2FF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6287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2FF"/>
                </a:solidFill>
                <a:latin typeface="Calibri"/>
              </a:defRPr>
            </a:pPr>
            <a:r>
              <a:t>Investor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6287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Decks · Updates · Data Room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303520"/>
            <a:ext cx="182880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7C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7C6EFA"/>
                </a:solidFill>
                <a:latin typeface="Calibri"/>
              </a:rPr>
              <a:t>⏱  Minutes not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303520"/>
            <a:ext cx="210312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🎯  Single source of truth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5303520"/>
            <a:ext cx="2011680" cy="320040"/>
          </a:xfrm>
          <a:prstGeom prst="roundRect">
            <a:avLst/>
          </a:prstGeom>
          <a:solidFill>
            <a:srgbClr val="12243A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4A9EFF"/>
                </a:solidFill>
                <a:latin typeface="Calibri"/>
              </a:rPr>
              <a:t>🔄  Auto-refresh live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Core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Executive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6 KPIs with sparklines, ARR bridge chart, revenue mix donut, and live investor activity feed.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83280" cy="20116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Growth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SaaS metrics (Rule of 40, payback), MRR waterfall, cohort retention heatmap, pipeline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83280" cy="20116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Investor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Auto-compose and send investor updates, board memos, quarterly letters — metrics auto-populated.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🎞️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Board Deck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8-slide auto-generated board presentations from live data — cover to asks &amp; next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931920"/>
            <a:ext cx="3383280" cy="20116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Fundraising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46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DCF valuation calculator, data room tracker, Series B raise progress CRM with commitment tracking.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31920"/>
            <a:ext cx="3383280" cy="20116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14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2FF"/>
                </a:solidFill>
                <a:latin typeface="Calibri"/>
              </a:defRPr>
            </a:pPr>
            <a:r>
              <a:t>Scenario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46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Interactive sliders for bull/base/bear cases, 5-year ARR projections, DCF sensitivity grid.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InvestorAI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An intelligent assistant that answers any major investor query — trained on live company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7C6EFA"/>
                </a:solidFill>
                <a:latin typeface="Calibri"/>
              </a:rPr>
              <a:t>●  </a:t>
            </a:r>
            <a:r>
              <a:rPr sz="1200" b="1">
                <a:solidFill>
                  <a:srgbClr val="F0F2FF"/>
                </a:solidFill>
                <a:latin typeface="Calibri"/>
              </a:rPr>
              <a:t>20+ knowledge topics</a:t>
            </a:r>
            <a:r>
              <a:rPr sz="1200" b="0">
                <a:solidFill>
                  <a:srgbClr val="8B92A9"/>
                </a:solidFill>
                <a:latin typeface="Calibri"/>
              </a:rPr>
              <a:t> — ARR, NDR, unit economics, valuation, GTM, team, market, compliance &amp; more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00D4AA"/>
                </a:solidFill>
                <a:latin typeface="Calibri"/>
              </a:rPr>
              <a:t>●  </a:t>
            </a:r>
            <a:r>
              <a:rPr sz="1200" b="1">
                <a:solidFill>
                  <a:srgbClr val="F0F2FF"/>
                </a:solidFill>
                <a:latin typeface="Calibri"/>
              </a:rPr>
              <a:t>Quick suggestion chips</a:t>
            </a:r>
            <a:r>
              <a:rPr sz="1200" b="0">
                <a:solidFill>
                  <a:srgbClr val="8B92A9"/>
                </a:solidFill>
                <a:latin typeface="Calibri"/>
              </a:rPr>
              <a:t> — one-click access to common investor questions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4A9EFF"/>
                </a:solidFill>
                <a:latin typeface="Calibri"/>
              </a:rPr>
              <a:t>●  </a:t>
            </a:r>
            <a:r>
              <a:rPr sz="1200" b="1">
                <a:solidFill>
                  <a:srgbClr val="F0F2FF"/>
                </a:solidFill>
                <a:latin typeface="Calibri"/>
              </a:rPr>
              <a:t>Rich metric pills</a:t>
            </a:r>
            <a:r>
              <a:rPr sz="1200" b="0">
                <a:solidFill>
                  <a:srgbClr val="8B92A9"/>
                </a:solidFill>
                <a:latin typeface="Calibri"/>
              </a:rPr>
              <a:t> — color-coded data highlights embedded in every AI response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FF9F43"/>
                </a:solidFill>
                <a:latin typeface="Calibri"/>
              </a:rPr>
              <a:t>●  </a:t>
            </a:r>
            <a:r>
              <a:rPr sz="1200" b="1">
                <a:solidFill>
                  <a:srgbClr val="F0F2FF"/>
                </a:solidFill>
                <a:latin typeface="Calibri"/>
              </a:rPr>
              <a:t>Natural language input</a:t>
            </a:r>
            <a:r>
              <a:rPr sz="1200" b="0">
                <a:solidFill>
                  <a:srgbClr val="8B92A9"/>
                </a:solidFill>
                <a:latin typeface="Calibri"/>
              </a:rPr>
              <a:t> — type any question in plain English, get an intelligent answer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FF6B9D"/>
                </a:solidFill>
                <a:latin typeface="Calibri"/>
              </a:rPr>
              <a:t>●  </a:t>
            </a:r>
            <a:r>
              <a:rPr sz="1200" b="1">
                <a:solidFill>
                  <a:srgbClr val="F0F2FF"/>
                </a:solidFill>
                <a:latin typeface="Calibri"/>
              </a:rPr>
              <a:t>Always-on availability</a:t>
            </a:r>
            <a:r>
              <a:rPr sz="1200" b="0">
                <a:solidFill>
                  <a:srgbClr val="8B92A9"/>
                </a:solidFill>
                <a:latin typeface="Calibri"/>
              </a:rPr>
              <a:t> — floating button accessible from every dashboard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572000" cy="4572000"/>
          </a:xfrm>
          <a:prstGeom prst="roundRect">
            <a:avLst/>
          </a:prstGeom>
          <a:solidFill>
            <a:srgbClr val="13151E"/>
          </a:solidFill>
          <a:ln w="19050">
            <a:solidFill>
              <a:srgbClr val="7C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572000" cy="640080"/>
          </a:xfrm>
          <a:prstGeom prst="roundRect">
            <a:avLst/>
          </a:prstGeom>
          <a:solidFill>
            <a:srgbClr val="1A1C2E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019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InvestorAI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48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AA"/>
                </a:solidFill>
                <a:latin typeface="Calibri"/>
              </a:defRPr>
            </a:pPr>
            <a:r>
              <a:t>● Online · Powered by growth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743200"/>
            <a:ext cx="2560320" cy="457200"/>
          </a:xfrm>
          <a:prstGeom prst="roundRect">
            <a:avLst/>
          </a:prstGeom>
          <a:solidFill>
            <a:srgbClr val="7C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F2FF"/>
                </a:solidFill>
                <a:latin typeface="Calibri"/>
              </a:defRPr>
            </a:pPr>
            <a:r>
              <a:t>What are the unit economics?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474720"/>
            <a:ext cx="3840480" cy="2011680"/>
          </a:xfrm>
          <a:prstGeom prst="roundRect">
            <a:avLst/>
          </a:prstGeom>
          <a:solidFill>
            <a:srgbClr val="1E2130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611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Our unit economics are best-in-class:</a:t>
            </a:r>
            <a:br/>
            <a:br/>
            <a:r>
              <a:t>• LTV: $19,968</a:t>
            </a:r>
            <a:br/>
            <a:r>
              <a:t>• CAC: $3,840</a:t>
            </a:r>
            <a:br/>
            <a:r>
              <a:t>• LTV:CAC: 5.2x (benchmark: 3x)</a:t>
            </a:r>
            <a:br/>
            <a:r>
              <a:t>• Payback: 11.5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5074920"/>
            <a:ext cx="118872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LTV $19,968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5074920"/>
            <a:ext cx="123444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5.2x LTV:CAC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5074920"/>
            <a:ext cx="128016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7C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7C6EFA"/>
                </a:solidFill>
                <a:latin typeface="Calibri"/>
              </a:rPr>
              <a:t>Payback 11.5mo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4A5068"/>
                </a:solidFill>
                <a:latin typeface="Calibri"/>
              </a:defRPr>
            </a:pPr>
            <a:r>
              <a:t>QUICK QUESTIONS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5897880"/>
            <a:ext cx="100584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9B9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9B95FA"/>
                </a:solidFill>
                <a:latin typeface="Calibri"/>
              </a:rPr>
              <a:t>📈 ARR &amp; Growth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897880"/>
            <a:ext cx="100584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9B9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9B95FA"/>
                </a:solidFill>
                <a:latin typeface="Calibri"/>
              </a:rPr>
              <a:t>🔁 NDR &amp; Retention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5897880"/>
            <a:ext cx="100584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9B9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9B95FA"/>
                </a:solidFill>
                <a:latin typeface="Calibri"/>
              </a:rPr>
              <a:t>💰 Series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5897880"/>
            <a:ext cx="100584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9B9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9B95FA"/>
                </a:solidFill>
                <a:latin typeface="Calibri"/>
              </a:rPr>
              <a:t>⚖️ Unit Economics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Industry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2A9"/>
                </a:solidFill>
                <a:latin typeface="Calibri"/>
              </a:defRPr>
            </a:pPr>
            <a:r>
              <a:t>InvestorOS serves any company navigating investor relations and growth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32004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2FF"/>
                </a:solidFill>
                <a:latin typeface="Calibri"/>
              </a:defRPr>
            </a:pPr>
            <a:r>
              <a:t>VC-Backed Startups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Automate monthly investor updates, track fundraise progress, and maintain board reporting cadence.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164592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23,000+ companies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560320" cy="32004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2FF"/>
                </a:solidFill>
                <a:latin typeface="Calibri"/>
              </a:defRPr>
            </a:pPr>
            <a:r>
              <a:t>PE Portfolio Companies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004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Standardize reporting across portfolio companies with unified metrics and consistent board decks.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40" y="4754880"/>
            <a:ext cx="164592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$2.4T AUM market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2560320" cy="32004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2FF"/>
                </a:solidFill>
                <a:latin typeface="Calibri"/>
              </a:defRPr>
            </a:pPr>
            <a:r>
              <a:t>AI / Consulting Firms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Design growth metric frameworks, prepare data rooms, and automate client reporting cadence.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754880"/>
            <a:ext cx="164592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High-value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194560"/>
            <a:ext cx="2560320" cy="32004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377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2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2FF"/>
                </a:solidFill>
                <a:latin typeface="Calibri"/>
              </a:defRPr>
            </a:pPr>
            <a:r>
              <a:t>CFO &amp; Finance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004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A9"/>
                </a:solidFill>
                <a:latin typeface="Calibri"/>
              </a:defRPr>
            </a:pPr>
            <a:r>
              <a:t>Replace 20+ hours of manual work per month with automated models and scenario planning.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4754880"/>
            <a:ext cx="164592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80% time saved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6EFA"/>
                </a:solidFill>
                <a:latin typeface="Calibri"/>
              </a:defRPr>
            </a:pPr>
            <a:r>
              <a:t>Technology &amp; Skills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286000" cy="411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22576"/>
            <a:ext cx="137160" cy="137160"/>
          </a:xfrm>
          <a:prstGeom prst="ellipse">
            <a:avLst/>
          </a:prstGeom>
          <a:solidFill>
            <a:srgbClr val="E34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58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HTML5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286000" cy="411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2322576"/>
            <a:ext cx="137160" cy="137160"/>
          </a:xfrm>
          <a:prstGeom prst="ellipse">
            <a:avLst/>
          </a:prstGeom>
          <a:solidFill>
            <a:srgbClr val="15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58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2286000" cy="411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871216"/>
            <a:ext cx="137160" cy="137160"/>
          </a:xfrm>
          <a:prstGeom prst="ellipse">
            <a:avLst/>
          </a:prstGeom>
          <a:solidFill>
            <a:srgbClr val="F7D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07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JavaScript (ES6+)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743200"/>
            <a:ext cx="2286000" cy="411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29000" y="2871216"/>
            <a:ext cx="137160" cy="137160"/>
          </a:xfrm>
          <a:prstGeom prst="ellipse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807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2286000" cy="411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419856"/>
            <a:ext cx="137160" cy="137160"/>
          </a:xfrm>
          <a:prstGeom prst="ellipse">
            <a:avLst/>
          </a:prstGeom>
          <a:solidFill>
            <a:srgbClr val="7C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55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Custom AI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291840"/>
            <a:ext cx="2286000" cy="411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29000" y="3419856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355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2FF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2FF"/>
                </a:solidFill>
                <a:latin typeface="Calibri"/>
              </a:defRPr>
            </a:pPr>
            <a:r>
              <a:t>Skill Sets Demonstrated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7C6EF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Financial Modelling &amp; Valuation</a:t>
            </a:r>
            <a:r>
              <a:rPr sz="1100" b="0">
                <a:solidFill>
                  <a:srgbClr val="8B92A9"/>
                </a:solidFill>
                <a:latin typeface="Calibri"/>
              </a:rPr>
              <a:t> — DCF, comparable analysis, scenario planning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00D4AA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SaaS Metrics &amp; Unit Economics</a:t>
            </a:r>
            <a:r>
              <a:rPr sz="1100" b="0">
                <a:solidFill>
                  <a:srgbClr val="8B92A9"/>
                </a:solidFill>
                <a:latin typeface="Calibri"/>
              </a:rPr>
              <a:t> — ARR, NDR, LTV, CAC, Rule of 40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4A9EFF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Dashboard Design</a:t>
            </a:r>
            <a:r>
              <a:rPr sz="1100" b="0">
                <a:solidFill>
                  <a:srgbClr val="8B92A9"/>
                </a:solidFill>
                <a:latin typeface="Calibri"/>
              </a:rPr>
              <a:t> — Power BI / Looker-style executive reporting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FF9F43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Investor Communication</a:t>
            </a:r>
            <a:r>
              <a:rPr sz="1100" b="0">
                <a:solidFill>
                  <a:srgbClr val="8B92A9"/>
                </a:solidFill>
                <a:latin typeface="Calibri"/>
              </a:rPr>
              <a:t> — pitch storytelling, board deck design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FF6B9D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Data Integration</a:t>
            </a:r>
            <a:r>
              <a:rPr sz="1100" b="0">
                <a:solidFill>
                  <a:srgbClr val="8B92A9"/>
                </a:solidFill>
                <a:latin typeface="Calibri"/>
              </a:rPr>
              <a:t> — CRM, finance, delivery data unification</a:t>
            </a:r>
          </a:p>
          <a:p>
            <a:pPr>
              <a:lnSpc>
                <a:spcPts val="2000"/>
              </a:lnSpc>
              <a:spcAft>
                <a:spcPts val="800"/>
              </a:spcAft>
            </a:pPr>
            <a:r>
              <a:rPr sz="800">
                <a:solidFill>
                  <a:srgbClr val="2ECC71"/>
                </a:solidFill>
                <a:latin typeface="Calibri"/>
              </a:rPr>
              <a:t>●  </a:t>
            </a:r>
            <a:r>
              <a:rPr sz="1100" b="1">
                <a:solidFill>
                  <a:srgbClr val="F0F2FF"/>
                </a:solidFill>
                <a:latin typeface="Calibri"/>
              </a:rPr>
              <a:t>AI Chatbot Development</a:t>
            </a:r>
            <a:r>
              <a:rPr sz="1100" b="0">
                <a:solidFill>
                  <a:srgbClr val="8B92A9"/>
                </a:solidFill>
                <a:latin typeface="Calibri"/>
              </a:rPr>
              <a:t> — NLP, knowledge base, contextual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A5068"/>
                </a:solidFill>
                <a:latin typeface="Calibri"/>
              </a:defRPr>
            </a:pPr>
            <a:r>
              <a:t>SLIDE 09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228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C6EFA"/>
                </a:solidFill>
                <a:latin typeface="Calibri"/>
              </a:defRPr>
            </a:pPr>
            <a:r>
              <a:t>InvestorOS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6EFA"/>
                </a:solidFill>
                <a:latin typeface="Calibri"/>
              </a:defRPr>
            </a:pPr>
            <a:r>
              <a:t>Live Metrics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A9"/>
                </a:solidFill>
                <a:latin typeface="Calibri"/>
              </a:defRPr>
            </a:pPr>
            <a:r>
              <a:t>Key performance indicators from the InvestorOS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194560"/>
            <a:ext cx="3200400" cy="18288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6EFA"/>
                </a:solidFill>
                <a:latin typeface="Calibri"/>
              </a:defRPr>
            </a:pPr>
            <a:r>
              <a:t>$4.82M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F"/>
                </a:solidFill>
                <a:latin typeface="Calibri"/>
              </a:defRPr>
            </a:pPr>
            <a: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↑ 18.4% MoM growth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194560"/>
            <a:ext cx="3200400" cy="18288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AA"/>
                </a:solidFill>
                <a:latin typeface="Calibri"/>
              </a:defRPr>
            </a:pPr>
            <a:r>
              <a:t>114%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F"/>
                </a:solidFill>
                <a:latin typeface="Calibri"/>
              </a:defRPr>
            </a:pPr>
            <a:r>
              <a:t>Net Dollar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Top-decile SaaS 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194560"/>
            <a:ext cx="3200400" cy="182880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F43"/>
                </a:solidFill>
                <a:latin typeface="Calibri"/>
              </a:defRPr>
            </a:pPr>
            <a:r>
              <a:t>5.2x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F"/>
                </a:solidFill>
                <a:latin typeface="Calibri"/>
              </a:defRPr>
            </a:pPr>
            <a:r>
              <a:t>LTV / CAC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73% above 3x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389120"/>
            <a:ext cx="3200400" cy="1554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F"/>
                </a:solidFill>
                <a:latin typeface="Calibri"/>
              </a:defRPr>
            </a:pPr>
            <a:r>
              <a:t>Rule of 40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Exceeds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389120"/>
            <a:ext cx="3200400" cy="1554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9EFF"/>
                </a:solidFill>
                <a:latin typeface="Calibri"/>
              </a:defRPr>
            </a:pPr>
            <a:r>
              <a:t>$6.2M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F"/>
                </a:solidFill>
                <a:latin typeface="Calibri"/>
              </a:defRPr>
            </a:pPr>
            <a:r>
              <a:t>Sales Pipeline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+28% QoQ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389120"/>
            <a:ext cx="3200400" cy="1554480"/>
          </a:xfrm>
          <a:prstGeom prst="roundRect">
            <a:avLst/>
          </a:prstGeom>
          <a:solidFill>
            <a:srgbClr val="1C202B"/>
          </a:solidFill>
          <a:ln w="1270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9D"/>
                </a:solidFill>
                <a:latin typeface="Calibri"/>
              </a:defRPr>
            </a:pPr>
            <a:r>
              <a:t>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2FF"/>
                </a:solidFill>
                <a:latin typeface="Calibri"/>
              </a:defRPr>
            </a:pPr>
            <a:r>
              <a:t>Fundraise Readiness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2A9"/>
                </a:solidFill>
                <a:latin typeface="Calibri"/>
              </a:defRPr>
            </a:pPr>
            <a:r>
              <a:t>Data room nearly 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0F2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7373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6EFA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A9"/>
                </a:solidFill>
                <a:latin typeface="Calibri"/>
              </a:defRPr>
            </a:pPr>
            <a:r>
              <a:t>InvestorOS streamlines the entire investor relations and growth operations</a:t>
            </a:r>
            <a:br/>
            <a:r>
              <a:t>workflow — from data ingestion to board-ready deliverables — saving 20+ hours</a:t>
            </a:r>
            <a:br/>
            <a:r>
              <a:t>per month and eliminating reporting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3931920"/>
            <a:ext cx="2468880" cy="320040"/>
          </a:xfrm>
          <a:prstGeom prst="roundRect">
            <a:avLst/>
          </a:prstGeom>
          <a:solidFill>
            <a:srgbClr val="1E183A"/>
          </a:solidFill>
          <a:ln w="9525">
            <a:solidFill>
              <a:srgbClr val="7C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7C6EFA"/>
                </a:solidFill>
                <a:latin typeface="Calibri"/>
              </a:rPr>
              <a:t>📊  7 Dashboard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527" y="3931920"/>
            <a:ext cx="2468880" cy="320040"/>
          </a:xfrm>
          <a:prstGeom prst="roundRect">
            <a:avLst/>
          </a:prstGeom>
          <a:solidFill>
            <a:srgbClr val="0E2E24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00D4AA"/>
                </a:solidFill>
                <a:latin typeface="Calibri"/>
              </a:rPr>
              <a:t>🤖  AI Chatbot · 20+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3931920"/>
            <a:ext cx="2468880" cy="320040"/>
          </a:xfrm>
          <a:prstGeom prst="roundRect">
            <a:avLst/>
          </a:prstGeom>
          <a:solidFill>
            <a:srgbClr val="12243A"/>
          </a:solidFill>
          <a:ln w="9525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4A9EFF"/>
                </a:solidFill>
                <a:latin typeface="Calibri"/>
              </a:rPr>
              <a:t>🔄  Real-Time Data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9047" y="3931920"/>
            <a:ext cx="2468880" cy="320040"/>
          </a:xfrm>
          <a:prstGeom prst="roundRect">
            <a:avLst/>
          </a:prstGeom>
          <a:solidFill>
            <a:srgbClr val="3A2810"/>
          </a:solidFill>
          <a:ln w="9525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900" b="1">
                <a:solidFill>
                  <a:srgbClr val="FF9F43"/>
                </a:solidFill>
                <a:latin typeface="Calibri"/>
              </a:rPr>
              <a:t>⚡  Built with HTML · CSS ·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937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068"/>
                </a:solidFill>
                <a:latin typeface="Calibri"/>
              </a:defRPr>
            </a:pPr>
            <a:r>
              <a:t>💡 Questions? Let's discuss!                📁 Live demo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669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5068"/>
                </a:solidFill>
                <a:latin typeface="Calibri"/>
              </a:defRPr>
            </a:pPr>
            <a:r>
              <a:t>InvestorOS  ·  Q2 2026  ·  Growth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