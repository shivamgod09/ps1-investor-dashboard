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463040"/>
            <a:ext cx="1371600" cy="1371600"/>
          </a:xfrm>
          <a:prstGeom prst="roundRect">
            <a:avLst/>
          </a:prstGeom>
          <a:solidFill>
            <a:srgbClr val="7C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1645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0F2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F"/>
                </a:solidFill>
                <a:latin typeface="Calibri"/>
              </a:defRPr>
            </a:pPr>
            <a:r>
              <a:t>InvestorOS Architecture &amp; Industry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A9"/>
                </a:solidFill>
                <a:latin typeface="Calibri"/>
              </a:defRPr>
            </a:pPr>
            <a:r>
              <a:t>A Technical Deep Dive into Growth Metrics Ingestion, AI Synthesis,</a:t>
            </a:r>
            <a:br/>
            <a:r>
              <a:t>and Enterprise Industry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SYSTEM WORKFLOW  ·  DATA PIPELINES  ·  COMMERCIAL VALUE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02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The Broken Investor Relations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Growth companies leak institutional value because of manual reporting friction and non-standard data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029200" cy="3840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B5B"/>
                </a:solidFill>
                <a:latin typeface="Calibri"/>
              </a:defRPr>
            </a:pPr>
            <a:r>
              <a:t>The Current Friction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FF5B5B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20+ Hours Wasted:</a:t>
            </a:r>
            <a:r>
              <a:rPr sz="1100" b="0">
                <a:solidFill>
                  <a:srgbClr val="8B92A9"/>
                </a:solidFill>
                <a:latin typeface="Calibri"/>
              </a:rPr>
              <a:t> Finance team manually aggregates files from QuickBooks, Salesforce, and Stripe every month.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FF5B5B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Formulas Drift &amp; Errors:</a:t>
            </a:r>
            <a:r>
              <a:rPr sz="1100" b="0">
                <a:solidFill>
                  <a:srgbClr val="8B92A9"/>
                </a:solidFill>
                <a:latin typeface="Calibri"/>
              </a:rPr>
              <a:t> Custom sheets suffer from broken formulas, non-standard ARR/MRR bridges, and bad cohort calculations.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FF5B5B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Fundraising Lag:</a:t>
            </a:r>
            <a:r>
              <a:rPr sz="1100" b="0">
                <a:solidFill>
                  <a:srgbClr val="8B92A9"/>
                </a:solidFill>
                <a:latin typeface="Calibri"/>
              </a:rPr>
              <a:t> Setting up VDRs, updating cap tables, and performing valuation analysis takes weeks, causing deal momentum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5029200" cy="3840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The Automated Target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Real-Time Data Ingestion: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Read API connections to live billing and pipeline endpoints, eliminating copy-paste work.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Standardized Calculation: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Institutional-grade mathematical libraries compute cohort matrices and LTV/CAC correctly.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On-Demand Readiness:</a:t>
            </a:r>
            <a:r>
              <a:rPr sz="1100" b="0">
                <a:solidFill>
                  <a:srgbClr val="8B92A9"/>
                </a:solidFill>
                <a:latin typeface="Calibri"/>
              </a:rPr>
              <a:t> Always-open virtual data rooms (VDR) and interactive AI chatbots remove round friction completely.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03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Workflow Step 1 &amp; 2: Ingestion &amp;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How raw transactional events are extracted, cleaned, and unified into an investor-grade reporting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2FF"/>
                </a:solidFill>
                <a:latin typeface="Calibri"/>
              </a:defRPr>
            </a:pPr>
            <a:r>
              <a:t>1. API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EFA"/>
                </a:solidFill>
                <a:latin typeface="Calibri"/>
              </a:defRPr>
            </a:pPr>
            <a:r>
              <a:t>🔗 Ingestion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Multi-Source Pull:</a:t>
            </a:r>
            <a:r>
              <a:rPr sz="1100" b="0">
                <a:solidFill>
                  <a:srgbClr val="8B92A9"/>
                </a:solidFill>
                <a:latin typeface="Calibri"/>
              </a:rPr>
              <a:t> Queries live endpoints from Stripe (recurring bills), Salesforce (sales pipeline), and QuickBooks (OpEx).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Raw Event Logging:</a:t>
            </a:r>
            <a:r>
              <a:rPr sz="1100" b="0">
                <a:solidFill>
                  <a:srgbClr val="8B92A9"/>
                </a:solidFill>
                <a:latin typeface="Calibri"/>
              </a:rPr>
              <a:t> Raw JSON transactions, refunds, new signups, and customer churn events are captured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2FF"/>
                </a:solidFill>
                <a:latin typeface="Calibri"/>
              </a:defRPr>
            </a:pPr>
            <a:r>
              <a:t>2. ETL &amp;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EFA"/>
                </a:solidFill>
                <a:latin typeface="Calibri"/>
              </a:defRPr>
            </a:pPr>
            <a:r>
              <a:t>⚙️ Processing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97180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4A9EFF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Deduplication: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Resolves multi-entry client entities across systems into a single customer ID map.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Event Serialization: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Transforms unstructured ledger items into clean time-series delta events (expansion, churn, contract).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2FF"/>
                </a:solidFill>
                <a:latin typeface="Calibri"/>
              </a:defRPr>
            </a:pPr>
            <a:r>
              <a:t>3. Unified Ingestion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6EFA"/>
                </a:solidFill>
                <a:latin typeface="Calibri"/>
              </a:defRPr>
            </a:pPr>
            <a:r>
              <a:t>🎯 Standardized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97180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Golden Record:</a:t>
            </a:r>
            <a:r>
              <a:rPr sz="1100" b="0">
                <a:solidFill>
                  <a:srgbClr val="8B92A9"/>
                </a:solidFill>
                <a:latin typeface="Calibri"/>
              </a:rPr>
              <a:t> Standardizes database rows into: Customer ID, Event Date, Net Delta ARR, Lifecycle Stage, Segment.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Audit Ready Log:</a:t>
            </a:r>
            <a:r>
              <a:rPr sz="1100" b="0">
                <a:solidFill>
                  <a:srgbClr val="8B92A9"/>
                </a:solidFill>
                <a:latin typeface="Calibri"/>
              </a:rPr>
              <a:t> Stores records in a read-only historical ledger that matches banking deposits exactly.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04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Workflow Step 3: Core Calculations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The standardized schema feeds mathematical engines to calculate key metrics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MRR Bridges &amp; Cohort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Waterfall Model Engine:</a:t>
            </a:r>
            <a:r>
              <a:rPr sz="1100" b="0">
                <a:solidFill>
                  <a:srgbClr val="8B92A9"/>
                </a:solidFill>
                <a:latin typeface="Calibri"/>
              </a:rPr>
              <a:t> Segregates delta monthly recurring revenue (MRR) into: New, Expansion, Contraction, and Churn.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SaaS Cohort Heatmaps:</a:t>
            </a:r>
            <a:r>
              <a:rPr sz="1100" b="0">
                <a:solidFill>
                  <a:srgbClr val="8B92A9"/>
                </a:solidFill>
                <a:latin typeface="Calibri"/>
              </a:rPr>
              <a:t> Calculates monthly cohort cohorts (e.g. M0 to M12 retention). Flags anomalies when cohorts drop below 90%.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Net Dollar Retention (NDR):</a:t>
            </a:r>
            <a:r>
              <a:rPr sz="1100" b="0">
                <a:solidFill>
                  <a:srgbClr val="8B92A9"/>
                </a:solidFill>
                <a:latin typeface="Calibri"/>
              </a:rPr>
              <a:t> Evaluates: (Beginning ARR + Expansion - Churn - Contraction) / Beginning ARR. Standardized mathematically.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Unit Economics &amp; Financial Projections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LTV/CAC Calculator:</a:t>
            </a:r>
            <a:r>
              <a:rPr sz="1100" b="0">
                <a:solidFill>
                  <a:srgbClr val="8B92A9"/>
                </a:solidFill>
                <a:latin typeface="Calibri"/>
              </a:rPr>
              <a:t> Merges average customer spend, gross margins, and churn coefficients to compute True Customer Lifetime Value.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Sales Pipeline Velocity:</a:t>
            </a:r>
            <a:r>
              <a:rPr sz="1100" b="0">
                <a:solidFill>
                  <a:srgbClr val="8B92A9"/>
                </a:solidFill>
                <a:latin typeface="Calibri"/>
              </a:rPr>
              <a:t> Tracks: (Active Opps x Avg Win Rate x Avg Deal Size) / Days in Cycle. Projects incoming ARR.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Dynamic Scenario Engine:</a:t>
            </a:r>
            <a:r>
              <a:rPr sz="1100" b="0">
                <a:solidFill>
                  <a:srgbClr val="8B92A9"/>
                </a:solidFill>
                <a:latin typeface="Calibri"/>
              </a:rPr>
              <a:t> Models bull/base/bear cash flows. Applies weighted growth rates and margin inputs to run instant 5-year forecasts.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05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Workflow Step 4 &amp; 5: AI Synthesis &amp;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Generating written commentary and context-aware investor Q&amp;A from live dashboard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Automated Update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Auto-Composer:</a:t>
            </a:r>
            <a:r>
              <a:rPr sz="1100" b="0">
                <a:solidFill>
                  <a:srgbClr val="8B92A9"/>
                </a:solidFill>
                <a:latin typeface="Calibri"/>
              </a:rPr>
              <a:t> Scans metrics database and structures highlights. Auto-writes bullet lists (e.g. ARR growth, logo counts).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Narrative Synthesis:</a:t>
            </a:r>
            <a:r>
              <a:rPr sz="1100" b="0">
                <a:solidFill>
                  <a:srgbClr val="8B92A9"/>
                </a:solidFill>
                <a:latin typeface="Calibri"/>
              </a:rPr>
              <a:t> Translates pure metrics into professional paragraphs, matching the founder/CFO's communication style.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Quarterly Board memos:</a:t>
            </a:r>
            <a:r>
              <a:rPr sz="1100" b="0">
                <a:solidFill>
                  <a:srgbClr val="8B92A9"/>
                </a:solidFill>
                <a:latin typeface="Calibri"/>
              </a:rPr>
              <a:t> Compiles standard templates including EBITDA bridges, net expansion, and next actions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RAG (Retrieval-Augmented Generation)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Knowledge Vector Database:</a:t>
            </a:r>
            <a:r>
              <a:rPr sz="1100" b="0">
                <a:solidFill>
                  <a:srgbClr val="8B92A9"/>
                </a:solidFill>
                <a:latin typeface="Calibri"/>
              </a:rPr>
              <a:t> Encodes financial facts, compliance docs, and GTM plans into searchable vector embeddings.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Context-Aware Retrieval:</a:t>
            </a:r>
            <a:r>
              <a:rPr sz="1100" b="0">
                <a:solidFill>
                  <a:srgbClr val="8B92A9"/>
                </a:solidFill>
                <a:latin typeface="Calibri"/>
              </a:rPr>
              <a:t> When an investor queries the bot, it retrieves matching quantitative metrics from the database.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Structured Formatting:</a:t>
            </a:r>
            <a:r>
              <a:rPr sz="1100" b="0">
                <a:solidFill>
                  <a:srgbClr val="8B92A9"/>
                </a:solidFill>
                <a:latin typeface="Calibri"/>
              </a:rPr>
              <a:t> Returns precise textual answers accompanied by targeted metric pills (e.g., LTV:CAC, churn 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06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Industry Use: VC-Backed Startups (Series A/B)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How high-growth founders prepare data rooms, run scenario planning, and raise capital efficiently.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⚡ Accelerating Time to Term Sheet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Always-Open Data Room:</a:t>
            </a:r>
            <a:r>
              <a:rPr sz="1100" b="0">
                <a:solidFill>
                  <a:srgbClr val="8B92A9"/>
                </a:solidFill>
                <a:latin typeface="Calibri"/>
              </a:rPr>
              <a:t> Auto-maintains financials, metrics, and contracts so due diligence begins immediately.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Round Progress Tracking:</a:t>
            </a:r>
            <a:r>
              <a:rPr sz="1100" b="0">
                <a:solidFill>
                  <a:srgbClr val="8B92A9"/>
                </a:solidFill>
                <a:latin typeface="Calibri"/>
              </a:rPr>
              <a:t> Tracks soft commitments, discussions, and remaining round targets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📊 Dynamic Capital Allocation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4A9EFF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Opex &amp; Headcount Sliders:</a:t>
            </a:r>
            <a:r>
              <a:rPr sz="1100" b="0">
                <a:solidFill>
                  <a:srgbClr val="8B92A9"/>
                </a:solidFill>
                <a:latin typeface="Calibri"/>
              </a:rPr>
              <a:t> Lets founders simulate how new capital affects runway, burn, and growth velocity.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Rule of 40 Optimization: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Monitors balance between growth and cash burn to maximize pre-money 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✉️ Auto-Reporting Cadence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Institutional Trust:</a:t>
            </a:r>
            <a:r>
              <a:rPr sz="1100" b="0">
                <a:solidFill>
                  <a:srgbClr val="8B92A9"/>
                </a:solidFill>
                <a:latin typeface="Calibri"/>
              </a:rPr>
              <a:t> Sending professional reports by the 5th of each month increases transparency.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Investor Sentiment Logs:</a:t>
            </a:r>
            <a:r>
              <a:rPr sz="1100" b="0">
                <a:solidFill>
                  <a:srgbClr val="8B92A9"/>
                </a:solidFill>
                <a:latin typeface="Calibri"/>
              </a:rPr>
              <a:t> Keeps a record of investor file access and query patterns to gauge round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07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Industry Use: Private Equity Portfolio Rollups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PE firms leverage unified growth systems to standardize reporting across dozens of acquisition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🏢 Portfolio Standardization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Cross-Asset Analytics:</a:t>
            </a:r>
            <a:r>
              <a:rPr sz="1100" b="0">
                <a:solidFill>
                  <a:srgbClr val="8B92A9"/>
                </a:solidFill>
                <a:latin typeface="Calibri"/>
              </a:rPr>
              <a:t> Operating partners look at a single dashboard instead of parsing varying Excel models.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Uniform SaaS GAAP Metrics:</a:t>
            </a:r>
            <a:r>
              <a:rPr sz="1100" b="0">
                <a:solidFill>
                  <a:srgbClr val="8B92A9"/>
                </a:solidFill>
                <a:latin typeface="Calibri"/>
              </a:rPr>
              <a:t> Enforces exact calculation metrics (e.g. churn vs contraction) across different firms.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📈 Valuation Rollup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4A9EFF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Comparable Exit Models:</a:t>
            </a:r>
            <a:r>
              <a:rPr sz="1100" b="0">
                <a:solidFill>
                  <a:srgbClr val="8B92A9"/>
                </a:solidFill>
                <a:latin typeface="Calibri"/>
              </a:rPr>
              <a:t> Consolidates EBITDA and ARR multiples across the portfolio to model rollup exit returns.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DCF Sensitivity Engine:</a:t>
            </a:r>
            <a:r>
              <a:rPr sz="1100" b="0">
                <a:solidFill>
                  <a:srgbClr val="8B92A9"/>
                </a:solidFill>
                <a:latin typeface="Calibri"/>
              </a:rPr>
              <a:t> Stresstests discount rates and margin improvements across multi-asset rollups.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📊 Performance Benchmarking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Internal League Tables:</a:t>
            </a:r>
            <a:r>
              <a:rPr sz="1100" b="0">
                <a:solidFill>
                  <a:srgbClr val="8B92A9"/>
                </a:solidFill>
                <a:latin typeface="Calibri"/>
              </a:rPr>
              <a:t> Ranks portfolio companies based on metrics like LTV:CAC, Magic Number, and Rule of 40.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Anomaly Risk Flags:</a:t>
            </a:r>
            <a:r>
              <a:rPr sz="1100" b="0">
                <a:solidFill>
                  <a:srgbClr val="8B92A9"/>
                </a:solidFill>
                <a:latin typeface="Calibri"/>
              </a:rPr>
              <a:t> Automatically flags assets experiencing declining cohort retention or slowing win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08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Industry Use: Fractional CFOs &amp; Consulting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Fractional CFO firms utilize automated reporting layers to serve 10x more clients with higher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⚙️ Scalable Advisory 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CFO Operating Leverage:</a:t>
            </a:r>
            <a:r>
              <a:rPr sz="1100" b="0">
                <a:solidFill>
                  <a:srgbClr val="8B92A9"/>
                </a:solidFill>
                <a:latin typeface="Calibri"/>
              </a:rPr>
              <a:t> Automates basic chart building so advisors spend client meetings on high-value strategy.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Multi-Tenant Control:</a:t>
            </a:r>
            <a:r>
              <a:rPr sz="1100" b="0">
                <a:solidFill>
                  <a:srgbClr val="8B92A9"/>
                </a:solidFill>
                <a:latin typeface="Calibri"/>
              </a:rPr>
              <a:t> Enables switching between multiple client company profiles via one platform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📑 Automated Board Deliverables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4A9EFF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Push-Button Memos:</a:t>
            </a:r>
            <a:r>
              <a:rPr sz="1100" b="0">
                <a:solidFill>
                  <a:srgbClr val="8B92A9"/>
                </a:solidFill>
                <a:latin typeface="Calibri"/>
              </a:rPr>
              <a:t> Generates complete draft board letters, needing only minimal CFO polish before publication.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Institutional Branding:</a:t>
            </a:r>
            <a:r>
              <a:rPr sz="1100" b="0">
                <a:solidFill>
                  <a:srgbClr val="8B92A9"/>
                </a:solidFill>
                <a:latin typeface="Calibri"/>
              </a:rPr>
              <a:t> Auto-formats presentations and pitch materials to institutional VC/PE standards.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🤝 Client Pitch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06324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Data Room Creation:</a:t>
            </a:r>
            <a:r>
              <a:rPr sz="1100" b="0">
                <a:solidFill>
                  <a:srgbClr val="8B92A9"/>
                </a:solidFill>
                <a:latin typeface="Calibri"/>
              </a:rPr>
              <a:t> Organizes financials, contracts, and GTM metrics, preparing clients for exit events.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Scenario Modeling Workshops:</a:t>
            </a:r>
            <a:r>
              <a:rPr sz="1100" b="0">
                <a:solidFill>
                  <a:srgbClr val="8B92A9"/>
                </a:solidFill>
                <a:latin typeface="Calibri"/>
              </a:rPr>
              <a:t> CFO runs interactive projections live with founders using growth and margin sliders.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09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6EFA"/>
                </a:solidFill>
                <a:latin typeface="Calibri"/>
              </a:defRPr>
            </a:pPr>
            <a:r>
              <a:t>Measurable Industry ROI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A9"/>
                </a:solidFill>
                <a:latin typeface="Calibri"/>
              </a:defRPr>
            </a:pPr>
            <a:r>
              <a:t>How automation translates directly to time savings, cost reduction, and capital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4747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6EFA"/>
                </a:solidFill>
                <a:latin typeface="Calibri"/>
              </a:defRPr>
            </a:pPr>
            <a:r>
              <a:t>80% Time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2FF"/>
                </a:solidFill>
                <a:latin typeface="Calibri"/>
              </a:defRPr>
            </a:pPr>
            <a:r>
              <a:t>In Board Deck &amp; Update Prep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Manual to Automated:</a:t>
            </a:r>
            <a:r>
              <a:rPr sz="1050" b="0">
                <a:solidFill>
                  <a:srgbClr val="8B92A9"/>
                </a:solidFill>
                <a:latin typeface="Calibri"/>
              </a:rPr>
              <a:t> Shrugs monthly reporting cycle down from 20+ hours of data gathering to 5-10 minutes.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Lower Finance OPEX:</a:t>
            </a:r>
            <a:r>
              <a:rPr sz="1050" b="0">
                <a:solidFill>
                  <a:srgbClr val="8B92A9"/>
                </a:solidFill>
                <a:latin typeface="Calibri"/>
              </a:rPr>
              <a:t> Startups avoid hiring additional accounting analysts purely for data manipulation.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291840" cy="34747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  <a:latin typeface="Calibri"/>
              </a:defRPr>
            </a:pPr>
            <a:r>
              <a:t>Zero Calculation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2FF"/>
                </a:solidFill>
                <a:latin typeface="Calibri"/>
              </a:defRPr>
            </a:pPr>
            <a:r>
              <a:t>Standardized Financial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38328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Eliminating Formula Risks:</a:t>
            </a:r>
            <a:r>
              <a:rPr sz="1050" b="0">
                <a:solidFill>
                  <a:srgbClr val="8B92A9"/>
                </a:solidFill>
                <a:latin typeface="Calibri"/>
              </a:rPr>
              <a:t> Retains calculation rules in secure codebase, replacing human-built spreadsheets.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Audit Ready Trail:</a:t>
            </a:r>
            <a:r>
              <a:rPr sz="1050" b="0">
                <a:solidFill>
                  <a:srgbClr val="8B92A9"/>
                </a:solidFill>
                <a:latin typeface="Calibri"/>
              </a:rPr>
              <a:t> Transactions map 1:1 to billing ledger, eliminating reconciliation disputes.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291840" cy="34747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9EFF"/>
                </a:solidFill>
                <a:latin typeface="Calibri"/>
              </a:defRPr>
            </a:pPr>
            <a:r>
              <a:t>Accelerated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71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2FF"/>
                </a:solidFill>
                <a:latin typeface="Calibri"/>
              </a:defRPr>
            </a:pPr>
            <a:r>
              <a:t>Due Diligence Momentum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383280"/>
            <a:ext cx="2926080" cy="12700"/>
          </a:xfrm>
          <a:prstGeom prst="rect">
            <a:avLst/>
          </a:prstGeom>
          <a:solidFill>
            <a:srgbClr val="2A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52044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4A9EFF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Weeks to Days:</a:t>
            </a:r>
            <a:r>
              <a:rPr sz="1050" b="0">
                <a:solidFill>
                  <a:srgbClr val="8B92A9"/>
                </a:solidFill>
                <a:latin typeface="Calibri"/>
              </a:rPr>
              <a:t> Data rooms are kept 80%+ complete at all times. Decreases investor diligence wait times.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050" b="1">
                <a:solidFill>
                  <a:srgbClr val="F0F2FF"/>
                </a:solidFill>
                <a:latin typeface="Calibri"/>
              </a:rPr>
              <a:t>Institutional Image:</a:t>
            </a:r>
            <a:r>
              <a:rPr sz="1050" b="0">
                <a:solidFill>
                  <a:srgbClr val="8B92A9"/>
                </a:solidFill>
                <a:latin typeface="Calibri"/>
              </a:rPr>
              <a:t> Polished presentations and smart AI chatbots reflect strong operational maturity.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10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295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C6EFA"/>
                </a:solidFill>
                <a:latin typeface="Calibri"/>
              </a:defRPr>
            </a:pPr>
            <a:r>
              <a:t>InvestorOS  ·  Workflow &amp; Industry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Enterprise Architecture &amp; Compliance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Ensuring institutional-grade data privacy, API security, and reliability for financial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Modern Stack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Decoupled Frontend/Backend:</a:t>
            </a:r>
            <a:r>
              <a:rPr sz="1100" b="0">
                <a:solidFill>
                  <a:srgbClr val="8B92A9"/>
                </a:solidFill>
                <a:latin typeface="Calibri"/>
              </a:rPr>
              <a:t> Responsive frontend built on HTML5/CSS3/Vanilla JS connects to a high-throughput metrics engine.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High-Performance Analytics:</a:t>
            </a:r>
            <a:r>
              <a:rPr sz="1100" b="0">
                <a:solidFill>
                  <a:srgbClr val="8B92A9"/>
                </a:solidFill>
                <a:latin typeface="Calibri"/>
              </a:rPr>
              <a:t> Utilizes Chart.js for canvas rendering, offering zero latency on dynamic zoom and dashboard metrics.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Vector Embeddings &amp; NLP:</a:t>
            </a:r>
            <a:r>
              <a:rPr sz="1100" b="0">
                <a:solidFill>
                  <a:srgbClr val="8B92A9"/>
                </a:solidFill>
                <a:latin typeface="Calibri"/>
              </a:rPr>
              <a:t> Chatbot is powered by lightweight client-side lexical maps and context retrieval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9319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Security &amp; Compliance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SOC 2 Type II Alignment:</a:t>
            </a:r>
            <a:r>
              <a:rPr sz="1100" b="0">
                <a:solidFill>
                  <a:srgbClr val="8B92A9"/>
                </a:solidFill>
                <a:latin typeface="Calibri"/>
              </a:rPr>
              <a:t> Employs strict logical database separation to isolate company transactional datasets.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Secure API Interfacing:</a:t>
            </a:r>
            <a:r>
              <a:rPr sz="1100" b="0">
                <a:solidFill>
                  <a:srgbClr val="8B92A9"/>
                </a:solidFill>
                <a:latin typeface="Calibri"/>
              </a:rPr>
              <a:t> Utilizes OAuth 2.0 authorization codes and API key rotation protocols for Stripe and Salesforce connection.</a:t>
            </a:r>
          </a:p>
          <a:p>
            <a:pPr>
              <a:lnSpc>
                <a:spcPts val="1800"/>
              </a:lnSpc>
              <a:spcAft>
                <a:spcPts val="800"/>
              </a:spcAft>
            </a:pPr>
            <a:r>
              <a:rPr sz="900">
                <a:solidFill>
                  <a:srgbClr val="8B92A9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Restricted Access Control:</a:t>
            </a:r>
            <a:r>
              <a:rPr sz="1100" b="0">
                <a:solidFill>
                  <a:srgbClr val="8B92A9"/>
                </a:solidFill>
                <a:latin typeface="Calibri"/>
              </a:rPr>
              <a:t> Configured with role-based dashboard access, granting custom rights to founders, CFOs, and prospective investors.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0F2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7373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6EFA"/>
                </a:solidFill>
                <a:latin typeface="Calibri"/>
              </a:defRPr>
            </a:pPr>
            <a:r>
              <a:t>Summary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A9"/>
                </a:solidFill>
                <a:latin typeface="Calibri"/>
              </a:defRPr>
            </a:pPr>
            <a:r>
              <a:t>InvestorOS replaces manual spreadsheet-based reporting with a unified, live, AI-powered growth office.</a:t>
            </a:r>
            <a:br/>
            <a:r>
              <a:t>We reduce preparation loops, eliminate math logic drift, and build operational trust with investors.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3931920"/>
            <a:ext cx="246888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7C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C6EFA"/>
                </a:solidFill>
                <a:latin typeface="Calibri"/>
              </a:rPr>
              <a:t>📊 Data 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527" y="3931920"/>
            <a:ext cx="246888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🧮 Standarized SaaS Math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3931920"/>
            <a:ext cx="2468880" cy="320040"/>
          </a:xfrm>
          <a:prstGeom prst="roundRect">
            <a:avLst/>
          </a:prstGeom>
          <a:solidFill>
            <a:srgbClr val="12243A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A9EFF"/>
                </a:solidFill>
                <a:latin typeface="Calibri"/>
              </a:rPr>
              <a:t>🤖 AI RAG Chatbot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9047" y="3931920"/>
            <a:ext cx="2468880" cy="320040"/>
          </a:xfrm>
          <a:prstGeom prst="roundRect">
            <a:avLst/>
          </a:prstGeom>
          <a:solidFill>
            <a:srgbClr val="3A2810"/>
          </a:solidFill>
          <a:ln w="9525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9F43"/>
                </a:solidFill>
                <a:latin typeface="Calibri"/>
              </a:rPr>
              <a:t>💼 Institutional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937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068"/>
                </a:solidFill>
                <a:latin typeface="Calibri"/>
              </a:defRPr>
            </a:pPr>
            <a:r>
              <a:t>💡 Questions? Let's discuss the workflow or business impact.      📁 Live demo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669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068"/>
                </a:solidFill>
                <a:latin typeface="Calibri"/>
              </a:defRPr>
            </a:pPr>
            <a:r>
              <a:t>InvestorOS  ·  Corporate &amp; Venture Operations  · 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